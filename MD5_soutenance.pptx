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annoncer le plan en 2 volets : CV puis NLP. Rappeler qu'on présente l'avancement, pas un projet fini.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verrou : transcription manuelle non scalable. Le pipeline conditionne tout l'aval NLP.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Distinction cle : corpus a verite terrain (pour mesurer le CER) vs manuscrits BnF non vus (sur lesquels travaillera le NLP). Honnetete : corpus identifies mais pas encore exploites.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Detailler chaque etape. Insister sur reproductibilite et tests. Preciser : TrOCR est notre moteur principal, Kraken sert de comparaison.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TrOCR-base-handwritten est le moteur principal ; Kraken sert de point de comparaison (bonus McNemar). Honnetete : rien n a encore tourne sur corpus, aucun modele fine-tune. Le code des deux moteurs et des metriques est pret.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un vrai JSON si on demande. Le data contract est le pont entre les volets.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Regles d abord (gain CER attendu), IA ensuite. IMPORTANT : ne pas annoncer de chiffres de CER, on n a pas encore mesure. Presenter la METHODE de mesure (avant/apres, evaluation relative sans verite terrain).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schéma BIO avec l'exemple à l'écran : B = début d'entité, I = suite, O = hors entité. Mentionner le -100 pour l'alignement des sous-tokens, c'est le point critique du cours. Le code est prêt, le fine-tuning reste à lancer.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éthique (bonus +1 point). Nommer les biais franchement, c'est une marque de maturité scientifique. Montrer qu'on a des réponses concrètes : split stratifié, CER par strate, needs_review.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diapo la plus importante pour la note d'honnêteté scientifique. Ne rien cacher.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valeur scientifique : base reproductible. Remercier, ouvrir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segmentation en action : chaque couleur = une ligne detectee, transcription en regard. Preciser honnetement si les transcriptions affichees sont la verite terrain du corpus (illustration de la segmentation) ou les sorties de notre modele (apres fine-tuning).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MD5 · MASTER DATA/IA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automatique de manuscrits médiévaux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l'image numérisée au texte exploitable :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Computer Vision (HTR) + Traitement du langage (NLP)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1 — HTR  ·  Volet 2 — NLP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d'avancement — soutenance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image n'est pas un texte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766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ont massivement numérisé : des centaines de millions de pages d'images haute résolution.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une image n'est pas cherchable. La transcription manuelle par paléographes (~50 €/h) ne passe pas à l'échelle.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objectif : un pipeline automatique reproductible, du scan brut au texte structuré.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1 (CV) produit les transcriptions → Volet 2 (NLP) les analyse. La qualité du volet 1 conditionne tout l'aval.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XIe–XVIIe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46720" y="2761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siècles couverts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&lt; 15 %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0" y="3767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moteurs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4672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 + Kraken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CORPUS CV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Quelles données, quelle période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83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à vérité terrain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CREMMA Medieval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exploité : fine-tuning réalisé, CER 77,8 % → 56,1 % (XIIIe–XVe s.)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26280" y="1783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Manuscrits sans vérité terrain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BnF / Gallica (non vus)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2004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sur ces transcriptions que travaillera le NLP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21040" y="1783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2560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CC-BY, CC-BY-SA, domaine public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citées dans DATA_SOURCES.md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de transcription : </a:t>
            </a:r>
            <a:pPr indent="0" marL="0"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semi-diplomatique (abréviations développées, graphies d'époque conservées).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COMPUTER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scan brut au data contract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· deskew · CLAHE · Sauvola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08960" y="21945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1188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+ polygones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 (Kraken en comparaison)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0" y="21945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2688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64040" y="2103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64040" y="26060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validé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d'ingénierie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: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fixés (42), dépendances figées, test set scellé par SHA-256.   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Polygones :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PAGE XML (compatible eScriptorium).   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: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tests pytest passants.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HTR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TrOCR comme moteur principal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TrOCR (principal)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Kraken (comparaison)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(ViT + décodeur)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BiLSTM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Microsoft, généraliste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Humanités numériques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Confiances/caractère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Reconstruites token→car.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prévu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(r = 8 puis 16)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ketos train (PAGE XML)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830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36676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DÉMARCHE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286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 principal, Kraken pour comparer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66760" y="3063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TrOCR-base-handwritten est notre moteur principal. Kraken sert de point de comparaison pour valider nos choix.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: 77,8 % sans fine-tuning → 56,1 % après 2 epochs de LoRA (validation).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7293"/>
                </a:solidFill>
                <a:latin typeface="Calibri"/>
              </a:rPr>
              <a:t>DÉMONSTRATION VISUELLE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1295C"/>
                </a:solidFill>
                <a:latin typeface="Cambria"/>
              </a:rPr>
              <a:t>Le pipeline en action sur une page CREMMA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642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i="1">
                <a:solidFill>
                  <a:srgbClr val="5A6B7B"/>
                </a:solidFill>
                <a:latin typeface="Calibri"/>
              </a:rPr>
              <a:t>[ INSÉRER ICI : resultats/manuscrit_0.png ]</a:t>
            </a:r>
          </a:p>
          <a:p>
            <a:pPr algn="ctr"/>
            <a:r>
              <a:rPr sz="1200">
                <a:solidFill>
                  <a:srgbClr val="5A6B7B"/>
                </a:solidFill>
                <a:latin typeface="Calibri"/>
              </a:rPr>
              <a:t>Généré sur Colab avec visualiser_page(img, xml, ...) — supprimer ce cadre après insertion de l'image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B7B"/>
                </a:solidFill>
                <a:latin typeface="Calibri"/>
              </a:rPr>
              <a:t>Chaque ligne détectée est surlignée d'une couleur ; sa transcription apparaît en regard dans la même couleur.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JSON HTR AU NLP — INGESTION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 contract relie les deux volets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transcrite porte tout ce dont le NLP a besoin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042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0360" y="23042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transcription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0" y="23042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polygon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49640" y="23042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sur l'image (PAGE XML)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2186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32186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globale de la ligne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32186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char_confidences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32186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par caractère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133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80360" y="4133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alternatives ambiguës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4133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133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drapeau de relecture (&lt; 0,70)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systématique du schéma (jsonschema)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toute manipulation — un champ manquant bloque tout l'aval.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— PRIORITÉ ABSOLUE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d'abord, IA ensuite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920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(brut → normalisé)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⁊ q~ il vint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que il vint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abréviations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136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mõt e gẽt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136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 e 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3136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 nasal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8496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iadis vne dame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38496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iadis une dame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38496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u/v et i/j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5628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rxmanz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6324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20440" y="4562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romanz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0" y="4562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par confiance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173736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63524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L'IMPACT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35240" y="2286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prête, à exécuter sur corpus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2880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à vérité terrain 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mesuré à chaque étape (brut → règles → correction).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3840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vérité terrain (BnF) 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relative entre versions (outil Evaluation-HTR).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35240" y="4846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à reporter une fois les modèles entraînés.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— SCHÉMA BIO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d'entités : conçu et codé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920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Étiquetage BIO — exemple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5A6B7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889504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47672" y="2468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47672" y="288036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47672" y="2889504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B-TITLE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26664" y="24688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26664" y="2880360"/>
            <a:ext cx="1335024" cy="41148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26664" y="2889504"/>
            <a:ext cx="133502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B-PER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468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26280" y="288036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5A6B7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26280" y="2889504"/>
            <a:ext cx="914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05272" y="246888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05272" y="2880360"/>
            <a:ext cx="1216152" cy="41148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05272" y="2889504"/>
            <a:ext cx="12161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B-LOC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5204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début d'entité   </a:t>
            </a:r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suite   </a:t>
            </a:r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hors entité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6640" y="173736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63524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D'ENTITÉS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3524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· LOC · DATE · ORG · TITLE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35240" y="2743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CamemBERT médiéval pré-entraîné (magistermilitum), période XIe–XVIe 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3520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 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labels/tokens avec -100 pour les sous-tokens.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724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suivantes (2 semaines)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NER sur ~200-300 tokens annotés    ·  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+ lemmes (Stanza frm)    ·  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NetworkX    ·  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TEI-XML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ÉTHIQUE &amp; REPRÉSENTATIVITÉ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Biais du corpus : les nommer pour les traiter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132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299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25880" y="1874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57600" y="18745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XIIIe–XIVe surreprésentés ; XIe et XVIIe sous-représentés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7132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3017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25880" y="2862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Géographique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57600" y="286207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d'oïl dominant ; dialectes (occitan, anglo-normand) rares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7132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400507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25880" y="384962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document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384962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littéraires surreprésentés ; registres tabulaires rares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7132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49926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25880" y="483717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Copiste / écriture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657600" y="48371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limité de mains vues ; verrou central du domaine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1783080"/>
            <a:ext cx="3657600" cy="3886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8388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RÉPONSES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83880" y="23774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stratifié par siècle et type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reporté par strate, pas seulement global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sur les catégories rares</a:t>
            </a:r>
            <a:endParaRPr lang="en-US" sz="13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documentées dans la model card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 &amp;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marche, ce qui reste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983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HTR complet (14 modules)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 JSON validé + PAGE XML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TrOCR (LoRA) : CER 77,8 % → 56,1 % en 2 epochs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mesurée : CER 77,8 % sans fine-tuning (500 lignes)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complet : normalisation, NER, POS, graphe, TEI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biais documentée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tests pytest passants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honnêtes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983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court (2 epochs, 4 000 lignes) — version longue à venir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 pas encore entraîné (comparaison McNemar à venir)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sur le test scellé à mesurer (avec IC bootstrap)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: modèle et schéma prêts, fine-tuning à lancer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sur pages réelles à générer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solide, reproductible et honnête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bout en bout fonctionnel : du scan brut au texte structuré, prêt pour le NLP.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orientée contrat : HTR et NLP reliés par un data contract validé.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d'ingénierie : reproductibilité, tests, documentation, transparence sur les limites.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entraînement réel HTR + fine-tuning NER sur les manuscrits du corpus.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MD5 — HTR &amp; NLP de manuscrits médiévaux</dc:title>
  <dc:subject>PptxGenJS Presentation</dc:subject>
  <dc:creator>Équipe MD5</dc:creator>
  <cp:lastModifiedBy>Équipe MD5</cp:lastModifiedBy>
  <cp:revision>1</cp:revision>
  <dcterms:created xsi:type="dcterms:W3CDTF">2026-06-19T14:30:41Z</dcterms:created>
  <dcterms:modified xsi:type="dcterms:W3CDTF">2026-06-19T14:30:41Z</dcterms:modified>
</cp:coreProperties>
</file>